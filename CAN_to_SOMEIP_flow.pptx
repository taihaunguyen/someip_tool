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of this session: give the team a shared mental model of how a routine CAN message is received and re-published as a SOME/IP message over Ethernet, and which AUTOSAR module owns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picture for the whole feature. Left column = reception, right column = transmission. The two halves meet in the Application layer: the COM PduCallout copies the payload and sets an OS event; the extended task wakes up and drives the SOME/IP transmission down the Ethernet stack. Note that the received data never travels through the RTE - it is copied inside the callout.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receive chain is the standard AUTOSAR path. The only project-specific part is the COM PduCallout: it is our hook to grab the freshly received data and pass it on. Keep the callout short - copy and signal only, never send from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Transmission runs entirely in the extended task, so it never blocks the CAN interrupt. SomeIpXf serializes the data and adds its 8 header bytes; SoAd prepends the Message ID (Service ID + Method/Event ID) and the Length field. EthIf and EthDrv then put the frame on the wire.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2344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KNOWLEDGE SHARING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69164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Routine Message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SOME/IP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36118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through the AUTOSAR Classic stack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4343400"/>
            <a:ext cx="861365" cy="384048"/>
          </a:xfrm>
          <a:prstGeom prst="roundRect">
            <a:avLst>
              <a:gd name="adj" fmla="val 47619"/>
            </a:avLst>
          </a:prstGeom>
          <a:solidFill>
            <a:srgbClr val="17456B"/>
          </a:solidFill>
          <a:ln w="12700">
            <a:solidFill>
              <a:srgbClr val="2E5F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343400"/>
            <a:ext cx="8613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Rx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638605" y="434340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8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949501" y="4343400"/>
            <a:ext cx="1350569" cy="384048"/>
          </a:xfrm>
          <a:prstGeom prst="roundRect">
            <a:avLst>
              <a:gd name="adj" fmla="val 47619"/>
            </a:avLst>
          </a:prstGeom>
          <a:solidFill>
            <a:srgbClr val="17456B"/>
          </a:solidFill>
          <a:ln w="12700">
            <a:solidFill>
              <a:srgbClr val="2E5F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49501" y="4343400"/>
            <a:ext cx="13505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callout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00070" y="434340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8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10966" y="4343400"/>
            <a:ext cx="959206" cy="384048"/>
          </a:xfrm>
          <a:prstGeom prst="roundRect">
            <a:avLst>
              <a:gd name="adj" fmla="val 47619"/>
            </a:avLst>
          </a:prstGeom>
          <a:solidFill>
            <a:srgbClr val="17456B"/>
          </a:solidFill>
          <a:ln w="12700">
            <a:solidFill>
              <a:srgbClr val="2E5F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0966" y="4343400"/>
            <a:ext cx="9592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task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70171" y="434340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8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81067" y="4343400"/>
            <a:ext cx="959206" cy="384048"/>
          </a:xfrm>
          <a:prstGeom prst="roundRect">
            <a:avLst>
              <a:gd name="adj" fmla="val 47619"/>
            </a:avLst>
          </a:prstGeom>
          <a:solidFill>
            <a:srgbClr val="17456B"/>
          </a:solidFill>
          <a:ln w="12700">
            <a:solidFill>
              <a:srgbClr val="2E5F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81067" y="4343400"/>
            <a:ext cx="9592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SOME/IP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840273" y="4343400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D89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51169" y="4343400"/>
            <a:ext cx="1057046" cy="384048"/>
          </a:xfrm>
          <a:prstGeom prst="roundRect">
            <a:avLst>
              <a:gd name="adj" fmla="val 47619"/>
            </a:avLst>
          </a:prstGeom>
          <a:solidFill>
            <a:srgbClr val="17456B"/>
          </a:solidFill>
          <a:ln w="12700">
            <a:solidFill>
              <a:srgbClr val="2E5F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51169" y="4343400"/>
            <a:ext cx="10570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F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75320" y="1417320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7456B"/>
          </a:solidFill>
          <a:ln w="12700">
            <a:solidFill>
              <a:srgbClr val="27567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58200" y="1417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75320" y="2075688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7456B"/>
          </a:solidFill>
          <a:ln w="12700">
            <a:solidFill>
              <a:srgbClr val="27567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20756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75320" y="2734056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7456B"/>
          </a:solidFill>
          <a:ln w="12700">
            <a:solidFill>
              <a:srgbClr val="27567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58200" y="273405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Services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75320" y="3392424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7456B"/>
          </a:solidFill>
          <a:ln w="12700">
            <a:solidFill>
              <a:srgbClr val="27567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58200" y="339242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 Abstraction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275320" y="4050792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7456B"/>
          </a:solidFill>
          <a:ln w="12700">
            <a:solidFill>
              <a:srgbClr val="27567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58200" y="40507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MCAL / Drivers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75320" y="4709160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7456B"/>
          </a:solidFill>
          <a:ln w="12700">
            <a:solidFill>
              <a:srgbClr val="27567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58200" y="47091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9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73568" y="1481328"/>
            <a:ext cx="0" cy="3749040"/>
          </a:xfrm>
          <a:prstGeom prst="line">
            <a:avLst/>
          </a:prstGeom>
          <a:noFill/>
          <a:ln w="22225">
            <a:solidFill>
              <a:srgbClr val="58B8D6"/>
            </a:solidFill>
            <a:prstDash val="solid"/>
            <a:headEnd type="triangle"/>
          </a:ln>
        </p:spPr>
      </p:sp>
      <p:sp>
        <p:nvSpPr>
          <p:cNvPr id="32" name="Shape 30"/>
          <p:cNvSpPr/>
          <p:nvPr/>
        </p:nvSpPr>
        <p:spPr>
          <a:xfrm>
            <a:off x="11640312" y="1481328"/>
            <a:ext cx="0" cy="3749040"/>
          </a:xfrm>
          <a:prstGeom prst="line">
            <a:avLst/>
          </a:prstGeom>
          <a:noFill/>
          <a:ln w="22225">
            <a:solidFill>
              <a:srgbClr val="F0A05F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7589520" y="52852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256264" y="528523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A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across the AUTOSAR stack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818120" y="457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37576" y="384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— CAN reception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829800" y="457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0561B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49256" y="384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— SOME/IP transmission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83080" y="1097280"/>
            <a:ext cx="9966960" cy="530352"/>
          </a:xfrm>
          <a:prstGeom prst="roundRect">
            <a:avLst>
              <a:gd name="adj" fmla="val 5172"/>
            </a:avLst>
          </a:prstGeom>
          <a:solidFill>
            <a:srgbClr val="F5F7F9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097280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84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783080" y="1865376"/>
            <a:ext cx="9966960" cy="4572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" y="1865376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84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83080" y="2450592"/>
            <a:ext cx="9966960" cy="2139696"/>
          </a:xfrm>
          <a:prstGeom prst="roundRect">
            <a:avLst>
              <a:gd name="adj" fmla="val 1282"/>
            </a:avLst>
          </a:prstGeom>
          <a:solidFill>
            <a:srgbClr val="F5F7F9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" y="2450592"/>
            <a:ext cx="1298448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84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  <a:p>
            <a:pPr algn="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84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83080" y="4718304"/>
            <a:ext cx="9966960" cy="530352"/>
          </a:xfrm>
          <a:prstGeom prst="roundRect">
            <a:avLst>
              <a:gd name="adj" fmla="val 5172"/>
            </a:avLst>
          </a:prstGeom>
          <a:solidFill>
            <a:srgbClr val="F5F7F9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" y="4718304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84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 Abstraction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83080" y="5376672"/>
            <a:ext cx="9966960" cy="530352"/>
          </a:xfrm>
          <a:prstGeom prst="roundRect">
            <a:avLst>
              <a:gd name="adj" fmla="val 5172"/>
            </a:avLst>
          </a:prstGeom>
          <a:solidFill>
            <a:srgbClr val="F5F7F9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1480" y="537667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84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MCAL / Drivers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83080" y="6035040"/>
            <a:ext cx="9966960" cy="4572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 w="12700">
            <a:solidFill>
              <a:srgbClr val="E2E7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603504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84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/ Network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148840" y="60807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1F3F5"/>
          </a:solidFill>
          <a:ln w="12700">
            <a:solidFill>
              <a:srgbClr val="6B7B8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48840" y="6080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48840" y="5449824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148840" y="54498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CanDrv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20824" y="5513832"/>
            <a:ext cx="256032" cy="2560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20824" y="5513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48840" y="479145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48840" y="47914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CanIf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020824" y="4855464"/>
            <a:ext cx="256032" cy="2560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020824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48840" y="4169664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148840" y="4169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PduR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020824" y="4215384"/>
            <a:ext cx="256032" cy="2560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20824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48840" y="3621024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48840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020824" y="3666744"/>
            <a:ext cx="256032" cy="2560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020824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91840" y="5833872"/>
            <a:ext cx="0" cy="24688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38" name="Shape 36"/>
          <p:cNvSpPr/>
          <p:nvPr/>
        </p:nvSpPr>
        <p:spPr>
          <a:xfrm>
            <a:off x="3291840" y="5175504"/>
            <a:ext cx="0" cy="2743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3291840" y="4517136"/>
            <a:ext cx="0" cy="2743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40" name="Shape 38"/>
          <p:cNvSpPr/>
          <p:nvPr/>
        </p:nvSpPr>
        <p:spPr>
          <a:xfrm>
            <a:off x="3291840" y="3968496"/>
            <a:ext cx="0" cy="20116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headEnd type="triangle"/>
          </a:ln>
        </p:spPr>
      </p:sp>
      <p:sp>
        <p:nvSpPr>
          <p:cNvPr id="41" name="Text 39"/>
          <p:cNvSpPr txBox="1"/>
          <p:nvPr/>
        </p:nvSpPr>
        <p:spPr>
          <a:xfrm>
            <a:off x="4526280" y="55686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Rx interrupt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26280" y="37398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PduCallout copies the data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1170432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1F3F5"/>
          </a:solidFill>
          <a:ln w="12700">
            <a:solidFill>
              <a:srgbClr val="6B7B8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0" y="11704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SWC runnable / OS extended task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43984" y="1234440"/>
            <a:ext cx="256032" cy="256032"/>
          </a:xfrm>
          <a:prstGeom prst="ellipse">
            <a:avLst/>
          </a:prstGeom>
          <a:solidFill>
            <a:srgbClr val="6B7B8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43984" y="1234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69280" y="1911096"/>
            <a:ext cx="4480560" cy="365760"/>
          </a:xfrm>
          <a:prstGeom prst="roundRect">
            <a:avLst>
              <a:gd name="adj" fmla="val 15000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669280" y="19110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541264" y="1965960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541264" y="1965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1840" y="1362456"/>
            <a:ext cx="0" cy="2258568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91840" y="1362456"/>
            <a:ext cx="109728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3401568" y="1481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SetEvent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4572000" y="16093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WaitEvent → send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49440" y="1554480"/>
            <a:ext cx="0" cy="356616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7863840" y="2523744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863840" y="25237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SomeIpXf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7735824" y="2569464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735824" y="2569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63840" y="3072384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863840" y="30723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LdCom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7735824" y="3118104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7735824" y="3118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863840" y="3621024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863840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PduR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735824" y="3666744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735824" y="3666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63840" y="4169664"/>
            <a:ext cx="2286000" cy="347472"/>
          </a:xfrm>
          <a:prstGeom prst="roundRect">
            <a:avLst>
              <a:gd name="adj" fmla="val 15789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863840" y="416966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SoAd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7735824" y="4215384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735824" y="4215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863840" y="4791456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863840" y="479145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EthIf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735824" y="4855464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7735824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863840" y="5449824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7863840" y="54498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EthDrv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7735824" y="5513832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735824" y="5513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863840" y="60807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1F3F5"/>
          </a:solidFill>
          <a:ln w="12700">
            <a:solidFill>
              <a:srgbClr val="6B7B8B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863840" y="6080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9006840" y="2276856"/>
            <a:ext cx="0" cy="246888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9006840" y="2871216"/>
            <a:ext cx="0" cy="201168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9006840" y="3419856"/>
            <a:ext cx="0" cy="201168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9006840" y="3968496"/>
            <a:ext cx="0" cy="201168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9006840" y="4517136"/>
            <a:ext cx="0" cy="274320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9006840" y="5175504"/>
            <a:ext cx="0" cy="274320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9006840" y="5833872"/>
            <a:ext cx="0" cy="246888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89" name="Text 87"/>
          <p:cNvSpPr txBox="1"/>
          <p:nvPr/>
        </p:nvSpPr>
        <p:spPr>
          <a:xfrm>
            <a:off x="5074920" y="257860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8-byte SOME/IP header</a:t>
            </a:r>
            <a:endParaRPr lang="en-US" sz="1000" dirty="0"/>
          </a:p>
        </p:txBody>
      </p:sp>
      <p:sp>
        <p:nvSpPr>
          <p:cNvPr id="90" name="Text 88"/>
          <p:cNvSpPr txBox="1"/>
          <p:nvPr/>
        </p:nvSpPr>
        <p:spPr>
          <a:xfrm>
            <a:off x="5074920" y="4224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Message ID + Length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path — CAN bus to COM callout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8412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 ·  runs in CAN receive context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28116" y="22860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1F3F5"/>
          </a:solidFill>
          <a:ln w="12700">
            <a:solidFill>
              <a:srgbClr val="6B7B8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8116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38628" y="2743200"/>
            <a:ext cx="26517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76956" y="22860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76956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CanDrv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168396" y="2368296"/>
            <a:ext cx="256032" cy="2560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68396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076956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 interrupt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87468" y="2743200"/>
            <a:ext cx="26517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25796" y="22860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25796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CanIf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317236" y="2368296"/>
            <a:ext cx="256032" cy="2560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17236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225796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HRH → Rx PDU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36308" y="2743200"/>
            <a:ext cx="26517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74636" y="22860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74636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66076" y="2368296"/>
            <a:ext cx="256032" cy="2560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66076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374636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path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5148" y="2743200"/>
            <a:ext cx="26517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523476" y="22860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23476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14916" y="2368296"/>
            <a:ext cx="256032" cy="256032"/>
          </a:xfrm>
          <a:prstGeom prst="ellipse">
            <a:avLst/>
          </a:prstGeom>
          <a:solidFill>
            <a:srgbClr val="1C7293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14916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523476" y="33101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PduCallout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076956" y="1755648"/>
            <a:ext cx="8183880" cy="310896"/>
          </a:xfrm>
          <a:prstGeom prst="roundRect">
            <a:avLst>
              <a:gd name="adj" fmla="val 14706"/>
            </a:avLst>
          </a:prstGeom>
          <a:solidFill>
            <a:srgbClr val="E7F1F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76956" y="1755648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Rx interrupt context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8116" y="4315968"/>
            <a:ext cx="3169920" cy="1481328"/>
          </a:xfrm>
          <a:prstGeom prst="roundRect">
            <a:avLst>
              <a:gd name="adj" fmla="val 3704"/>
            </a:avLst>
          </a:prstGeom>
          <a:solidFill>
            <a:srgbClr val="F1F3F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02436" y="4562856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02436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623060" y="4562856"/>
            <a:ext cx="220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02436" y="5047488"/>
            <a:ext cx="262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frame arrives → Rx interrupt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09516" y="4315968"/>
            <a:ext cx="3169920" cy="1481328"/>
          </a:xfrm>
          <a:prstGeom prst="roundRect">
            <a:avLst>
              <a:gd name="adj" fmla="val 3704"/>
            </a:avLst>
          </a:prstGeom>
          <a:solidFill>
            <a:srgbClr val="F1F3F5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83836" y="4562856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83836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204460" y="4562856"/>
            <a:ext cx="220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783836" y="5047488"/>
            <a:ext cx="262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PduCallout copies the signal data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the SOME/IP transmit buffer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090916" y="4315968"/>
            <a:ext cx="3169920" cy="1481328"/>
          </a:xfrm>
          <a:prstGeom prst="roundRect">
            <a:avLst>
              <a:gd name="adj" fmla="val 3704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65236" y="4562856"/>
            <a:ext cx="310896" cy="310896"/>
          </a:xfrm>
          <a:prstGeom prst="ellipse">
            <a:avLst/>
          </a:prstGeom>
          <a:solidFill>
            <a:srgbClr val="C0561B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65236" y="4562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785860" y="4562856"/>
            <a:ext cx="2209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Hand-off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365236" y="5047488"/>
            <a:ext cx="262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SetEvent wakes the sending task —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blocking work inside the callout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path — OS task to Ethernet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8412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5–12  ·  runs in the extended OS task context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14350" y="1554480"/>
            <a:ext cx="1207008" cy="868680"/>
          </a:xfrm>
          <a:prstGeom prst="roundRect">
            <a:avLst>
              <a:gd name="adj" fmla="val 631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4350" y="155448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task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5790" y="1636776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5790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58318" y="25146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WaitEvent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48790" y="1988820"/>
            <a:ext cx="160020" cy="0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36242" y="1554480"/>
            <a:ext cx="1207008" cy="868680"/>
          </a:xfrm>
          <a:prstGeom prst="roundRect">
            <a:avLst>
              <a:gd name="adj" fmla="val 631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36242" y="155448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027682" y="1636776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27682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70682" y="1988820"/>
            <a:ext cx="160020" cy="0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58134" y="1554480"/>
            <a:ext cx="1207008" cy="868680"/>
          </a:xfrm>
          <a:prstGeom prst="roundRect">
            <a:avLst>
              <a:gd name="adj" fmla="val 631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58134" y="155448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SomeIpXf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49574" y="1636776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49574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102102" y="25146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+ 8-byte header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92574" y="1988820"/>
            <a:ext cx="160020" cy="0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80026" y="1554480"/>
            <a:ext cx="1207008" cy="868680"/>
          </a:xfrm>
          <a:prstGeom prst="roundRect">
            <a:avLst>
              <a:gd name="adj" fmla="val 631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80026" y="155448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LdCom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71466" y="1636776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71466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14466" y="1988820"/>
            <a:ext cx="160020" cy="0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01918" y="1554480"/>
            <a:ext cx="1207008" cy="868680"/>
          </a:xfrm>
          <a:prstGeom prst="roundRect">
            <a:avLst>
              <a:gd name="adj" fmla="val 631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01918" y="155448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93358" y="1636776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93358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36358" y="1988820"/>
            <a:ext cx="160020" cy="0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623810" y="1554480"/>
            <a:ext cx="1207008" cy="868680"/>
          </a:xfrm>
          <a:prstGeom prst="roundRect">
            <a:avLst>
              <a:gd name="adj" fmla="val 631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23810" y="155448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SoAd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715250" y="1636776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15250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367778" y="25146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Message ID, Length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858250" y="1988820"/>
            <a:ext cx="160020" cy="0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045702" y="1554480"/>
            <a:ext cx="1207008" cy="868680"/>
          </a:xfrm>
          <a:prstGeom prst="roundRect">
            <a:avLst>
              <a:gd name="adj" fmla="val 631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045702" y="155448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EthIf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137142" y="1636776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37142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0280142" y="1988820"/>
            <a:ext cx="160020" cy="0"/>
          </a:xfrm>
          <a:prstGeom prst="line">
            <a:avLst/>
          </a:prstGeom>
          <a:noFill/>
          <a:ln w="22225">
            <a:solidFill>
              <a:srgbClr val="C0561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467594" y="1554480"/>
            <a:ext cx="1207008" cy="868680"/>
          </a:xfrm>
          <a:prstGeom prst="roundRect">
            <a:avLst>
              <a:gd name="adj" fmla="val 6316"/>
            </a:avLst>
          </a:prstGeom>
          <a:solidFill>
            <a:srgbClr val="FBEBDF"/>
          </a:solidFill>
          <a:ln w="12700">
            <a:solidFill>
              <a:srgbClr val="C0561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467594" y="1554480"/>
            <a:ext cx="12070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05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EthDrv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10559034" y="1636776"/>
            <a:ext cx="256032" cy="256032"/>
          </a:xfrm>
          <a:prstGeom prst="ellipse">
            <a:avLst/>
          </a:prstGeom>
          <a:solidFill>
            <a:srgbClr val="C0561B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559034" y="1636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0211562" y="251460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wire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514350" y="312724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frame grows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514350" y="3703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RTE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309360" y="3703320"/>
            <a:ext cx="5367528" cy="548640"/>
          </a:xfrm>
          <a:prstGeom prst="rect">
            <a:avLst/>
          </a:prstGeom>
          <a:solidFill>
            <a:srgbClr val="F1F3F5"/>
          </a:solidFill>
          <a:ln w="12700">
            <a:solidFill>
              <a:srgbClr val="6B7B8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09360" y="3703320"/>
            <a:ext cx="5367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signal data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14350" y="44805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SomeIpXf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983480" y="4480560"/>
            <a:ext cx="1325880" cy="548640"/>
          </a:xfrm>
          <a:prstGeom prst="rect">
            <a:avLst/>
          </a:prstGeom>
          <a:solidFill>
            <a:srgbClr val="E390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983480" y="44805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SOME/IP header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9360" y="4480560"/>
            <a:ext cx="5367528" cy="548640"/>
          </a:xfrm>
          <a:prstGeom prst="rect">
            <a:avLst/>
          </a:prstGeom>
          <a:solidFill>
            <a:srgbClr val="F1F3F5"/>
          </a:solidFill>
          <a:ln w="12700">
            <a:solidFill>
              <a:srgbClr val="6B7B8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09360" y="4480560"/>
            <a:ext cx="5367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signal data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514350" y="5257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SoAd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657600" y="5257800"/>
            <a:ext cx="1325880" cy="548640"/>
          </a:xfrm>
          <a:prstGeom prst="rect">
            <a:avLst/>
          </a:prstGeom>
          <a:solidFill>
            <a:srgbClr val="C0561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657600" y="5257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ID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Length · 8 B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83480" y="5257800"/>
            <a:ext cx="1325880" cy="548640"/>
          </a:xfrm>
          <a:prstGeom prst="rect">
            <a:avLst/>
          </a:prstGeom>
          <a:solidFill>
            <a:srgbClr val="E3905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983480" y="52578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SOME/IP header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9360" y="5257800"/>
            <a:ext cx="5367528" cy="548640"/>
          </a:xfrm>
          <a:prstGeom prst="rect">
            <a:avLst/>
          </a:prstGeom>
          <a:solidFill>
            <a:srgbClr val="F1F3F5"/>
          </a:solidFill>
          <a:ln w="12700">
            <a:solidFill>
              <a:srgbClr val="6B7B8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6309360" y="5257800"/>
            <a:ext cx="5367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signal data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3657600" y="5943600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E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16-byte SOME/IP header in total — 8 B added by the transformer, 8 B by SoAd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Routine Message over SOME/IP</dc:title>
  <dc:subject>PptxGenJS Presentation</dc:subject>
  <dc:creator>Engineering</dc:creator>
  <cp:lastModifiedBy>Engineering</cp:lastModifiedBy>
  <cp:revision>1</cp:revision>
  <dcterms:created xsi:type="dcterms:W3CDTF">2026-09-08T15:32:03Z</dcterms:created>
  <dcterms:modified xsi:type="dcterms:W3CDTF">2026-09-08T15:32:03Z</dcterms:modified>
</cp:coreProperties>
</file>